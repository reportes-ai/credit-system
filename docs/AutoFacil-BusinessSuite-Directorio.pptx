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6035040" cy="603504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657600"/>
            <a:ext cx="4572000" cy="4572000"/>
          </a:xfrm>
          <a:prstGeom prst="ellipse">
            <a:avLst/>
          </a:prstGeom>
          <a:solidFill>
            <a:srgbClr val="0255C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143000"/>
            <a:ext cx="52120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pic>
        <p:nvPicPr>
          <p:cNvPr id="6" name="Image 0" descr="api-gateway/public/img/logo-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5456" y="1527048"/>
            <a:ext cx="3087088" cy="12435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5204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planillas dispersas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una plataforma propia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5029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historia de cómo construimos el núcleo digital del negocio — y por qué cambia las reglas.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Directorio</a:t>
            </a:r>
            <a:pPr indent="0" marL="0">
              <a:buNone/>
            </a:pPr>
            <a:r>
              <a:rPr lang="en-US" sz="1400" dirty="0">
                <a:solidFill>
                  <a:srgbClr val="009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Junio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· EL PUNTO DE PARTIDA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negocio que corría sobre planillas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4564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0312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585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81635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quien, su Excel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3163824"/>
            <a:ext cx="290779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Prácticamente cada usuario tenía sus propias “bases” en Excel, sin un origen común.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89704" y="1828800"/>
            <a:ext cx="34564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5C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64024" y="2103120"/>
            <a:ext cx="640080" cy="640080"/>
          </a:xfrm>
          <a:prstGeom prst="ellipse">
            <a:avLst/>
          </a:prstGeom>
          <a:solidFill>
            <a:srgbClr val="FBE3E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2585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64024" y="281635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no cuadraban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764024" y="3163824"/>
            <a:ext cx="290779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duplicada y, peor aún, cifras que no coincidían entre planillas.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02168" y="1828800"/>
            <a:ext cx="345643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76488" y="210312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25856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76488" y="281635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visión única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76488" y="3163824"/>
            <a:ext cx="2907792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Imposible ver el negocio completo y confiable en un solo lugar.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777240" y="53492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al ingresar a AutoFácil: el dato existía, pero estaba fragmentado y sin control.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SOLUCIÓN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“Base Única”: orden con lo que había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17550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10312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585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81635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planilla compartida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3163824"/>
            <a:ext cx="46268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gran sábana de Excel en OneDrive donde todos trabajan y actualizan en línea y en paralelo, homologando datos y formas de trabajo.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54496" y="1828800"/>
            <a:ext cx="5175504" cy="3200400"/>
          </a:xfrm>
          <a:prstGeom prst="rect">
            <a:avLst/>
          </a:prstGeom>
          <a:solidFill>
            <a:srgbClr val="FFFDF6"/>
          </a:solidFill>
          <a:ln w="12700">
            <a:solidFill>
              <a:srgbClr val="F3D88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28816" y="2103120"/>
            <a:ext cx="640080" cy="64008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22585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28816" y="281635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la información de hoy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28816" y="3163824"/>
            <a:ext cx="46268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se extrae desde ahí y el Dashboard se alimenta de esa fuente. Un puente eficaz — pero todavía sobre Excel.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CON PROVEEDORES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Buscar afuera… y chocar con los límites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2938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46504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(ENGAGE)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diagnóstico con un software del rubro; reconocido como acertado, pero no se autorizó la compra.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83464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9809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98064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Credit (software del grupo)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comitiva priorizó Cobranzas cuando necesitábamos iniciación de créditos.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88620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032504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849624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rígidos, ajenos a Chile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Exigían datos no aplicables (p. ej. “parroquias”, cónyuges) e impedían adaptar la forma de trabajar.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493776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08406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901184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instaló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reuniones se dilataron, se insistió en lo mismo y el proyecto no llegó a puerto.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DE DEPENDER DE TERCEROS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Pagar mucho… por hacer poco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4564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5C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83080"/>
            <a:ext cx="3456432" cy="109728"/>
          </a:xfrm>
          <a:prstGeom prst="rect">
            <a:avLst/>
          </a:prstGeom>
          <a:solidFill>
            <a:srgbClr val="D649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488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6974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US$ 78.000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1069848" y="331927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año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365760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 actual (Indexa): solo repositorio. Sin mejoras sin costo, sin acceso a la base de datos.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9704" y="1783080"/>
            <a:ext cx="34564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5C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704" y="1783080"/>
            <a:ext cx="3456432" cy="109728"/>
          </a:xfrm>
          <a:prstGeom prst="rect">
            <a:avLst/>
          </a:prstGeom>
          <a:solidFill>
            <a:srgbClr val="D649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21488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4024" y="26974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US$ 200.000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4782312" y="331927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64024" y="365760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de proveedor para solo replicar lo que ya tenemos (2 ingenieros, 6 meses).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02168" y="1783080"/>
            <a:ext cx="3456432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C5C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02168" y="1783080"/>
            <a:ext cx="3456432" cy="109728"/>
          </a:xfrm>
          <a:prstGeom prst="rect">
            <a:avLst/>
          </a:prstGeom>
          <a:solidFill>
            <a:srgbClr val="D6493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1488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76488" y="2697480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US$ 10.000</a:t>
            </a:r>
            <a:endParaRPr lang="en-US" sz="2500" dirty="0"/>
          </a:p>
        </p:txBody>
      </p:sp>
      <p:sp>
        <p:nvSpPr>
          <p:cNvPr id="21" name="Text 16"/>
          <p:cNvSpPr/>
          <p:nvPr/>
        </p:nvSpPr>
        <p:spPr>
          <a:xfrm>
            <a:off x="8494776" y="331927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4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476488" y="3657600"/>
            <a:ext cx="2907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 BPO adicional que exigía ese mismo proveedor, por sobre el desarrollo.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77724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dinero comprometido para seguir dependiendo de un proveedor — sin libertad para mejorar.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Tecnología, experiencia e Inteligencia Artificial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1755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203704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39572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2082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Trayectoria en tecnología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011680" y="2404872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software World Class (retail y banca) y rediseño de procesos.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3502152"/>
            <a:ext cx="5175504" cy="1572768"/>
          </a:xfrm>
          <a:prstGeom prst="rect">
            <a:avLst/>
          </a:prstGeom>
          <a:solidFill>
            <a:srgbClr val="FFFDF6"/>
          </a:solidFill>
          <a:ln w="12700">
            <a:solidFill>
              <a:srgbClr val="F3D88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51560" y="3922776"/>
            <a:ext cx="731520" cy="73152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584" y="41148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11680" y="3739896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de IA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011680" y="4123944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2025, desarrollo asistido por IA — el multiplicador del proyecto.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54496" y="1783080"/>
            <a:ext cx="51755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203704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39572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88936" y="2020824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Cotizador instantáneo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488936" y="2404872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a 12/24/36/48 meses ingresando el Saldo Precio, con seguros y gastos.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54496" y="3502152"/>
            <a:ext cx="51755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28816" y="3922776"/>
            <a:ext cx="731520" cy="73152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11480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88936" y="3739896"/>
            <a:ext cx="3666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y herramientas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88936" y="4123944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web, seguimiento de créditos y gestor de tareas para las gerencias.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108960"/>
            <a:ext cx="6035040" cy="603504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2025 · LA DECISIÓN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25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lo nuestro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inicial era simple: dar de baja Indexa y dejar de pagar US$ 78.000 al año. El alcance creció — y hoy tenemos una plataforma que administra el negocio de punta a punta.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3419856" cy="219456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794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436168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repositorio a plataforma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43000" y="489204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empezó como un contenedor de operaciones se volvió un sistema integral.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62856" y="3520440"/>
            <a:ext cx="3419856" cy="219456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37947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37176" y="436168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 a punta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37176" y="489204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desde la aprobación hasta la cobranza, en un solo lugar.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57032" y="3520440"/>
            <a:ext cx="3419856" cy="219456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7947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1352" y="4361688"/>
            <a:ext cx="2871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áreas, sin costo extra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531352" y="4892040"/>
            <a:ext cx="2871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soporte a áreas que hoy ni siquiera tienen acceso al sistema antiguo.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6035040" cy="603504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3657600"/>
            <a:ext cx="4572000" cy="4572000"/>
          </a:xfrm>
          <a:prstGeom prst="ellipse">
            <a:avLst/>
          </a:prstGeom>
          <a:solidFill>
            <a:srgbClr val="0255C5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78328" y="1554480"/>
            <a:ext cx="6035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pic>
        <p:nvPicPr>
          <p:cNvPr id="7" name="Image 0" descr="api-gateway/public/img/logo-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914" y="2011680"/>
            <a:ext cx="3631868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núcleo digital de AutoFácil — construido en casa, pensado para el negocio.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09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 ·  100% Paramétrico  ·  Trazable  ·  En la nube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PARADIGMA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es un archivo. Es la plataforma del negocio.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almacena créditos: administra la operación completa — desde la aprobación hasta la cobranza — con control, trazabilidad y autonomía total para el negocio.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456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60604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6148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3192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3666744"/>
            <a:ext cx="29077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 planillas dispersas y procesos manuales por un flujo único, en la nube, compartido y auditable.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9704" y="2331720"/>
            <a:ext cx="3456432" cy="3291840"/>
          </a:xfrm>
          <a:prstGeom prst="rect">
            <a:avLst/>
          </a:prstGeom>
          <a:solidFill>
            <a:srgbClr val="FFFDF6"/>
          </a:solidFill>
          <a:ln w="12700">
            <a:solidFill>
              <a:srgbClr val="F3D88A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4024" y="2606040"/>
            <a:ext cx="640080" cy="640080"/>
          </a:xfrm>
          <a:prstGeom prst="ellipse">
            <a:avLst/>
          </a:prstGeom>
          <a:solidFill>
            <a:srgbClr val="FFF3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7614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4024" y="33192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Paramétrico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64024" y="3666744"/>
            <a:ext cx="29077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configura montos, tasas, impuestos, estados, textos y permisos — sin programadores.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02168" y="2331720"/>
            <a:ext cx="3456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76488" y="260604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276148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6488" y="3319272"/>
            <a:ext cx="2907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crecer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76488" y="3666744"/>
            <a:ext cx="29077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proceso nuevo se suma como módulo, sin rehacer lo existente.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CAPACIDADES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plataforma, todo el negocio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53256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8704" y="22677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en tiempo real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933944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09960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08" y="22677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25384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25384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y “cuatro ojos”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90648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66664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2" y="226771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2088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182088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y gestión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247352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923367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815" y="226771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38792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338792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integral 360°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404055" y="187452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080071" y="211226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5519" y="226771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95495" y="289864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9495495" y="320954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cartolas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77240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1453256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8704" y="437083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8680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Venta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68680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por workflow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2933944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3609960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5408" y="4370832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025384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3025384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cajas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5090648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5766664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2112" y="4370832"/>
            <a:ext cx="347472" cy="34747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82088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</a:t>
            </a:r>
            <a:endParaRPr lang="en-US" sz="1400" dirty="0"/>
          </a:p>
        </p:txBody>
      </p:sp>
      <p:sp>
        <p:nvSpPr>
          <p:cNvPr id="44" name="Text 34"/>
          <p:cNvSpPr/>
          <p:nvPr/>
        </p:nvSpPr>
        <p:spPr>
          <a:xfrm>
            <a:off x="5182088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 y gastos (normativa)</a:t>
            </a:r>
            <a:endParaRPr lang="en-US" sz="1050" dirty="0"/>
          </a:p>
        </p:txBody>
      </p:sp>
      <p:sp>
        <p:nvSpPr>
          <p:cNvPr id="45" name="Shape 35"/>
          <p:cNvSpPr/>
          <p:nvPr/>
        </p:nvSpPr>
        <p:spPr>
          <a:xfrm>
            <a:off x="7247352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7923367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8815" y="4370832"/>
            <a:ext cx="347472" cy="347472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338792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</a:t>
            </a:r>
            <a:endParaRPr lang="en-US" sz="1400" dirty="0"/>
          </a:p>
        </p:txBody>
      </p:sp>
      <p:sp>
        <p:nvSpPr>
          <p:cNvPr id="49" name="Text 38"/>
          <p:cNvSpPr/>
          <p:nvPr/>
        </p:nvSpPr>
        <p:spPr>
          <a:xfrm>
            <a:off x="7338792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a gerencia</a:t>
            </a:r>
            <a:endParaRPr lang="en-US" sz="1050" dirty="0"/>
          </a:p>
        </p:txBody>
      </p:sp>
      <p:sp>
        <p:nvSpPr>
          <p:cNvPr id="50" name="Shape 39"/>
          <p:cNvSpPr/>
          <p:nvPr/>
        </p:nvSpPr>
        <p:spPr>
          <a:xfrm>
            <a:off x="9404055" y="3977640"/>
            <a:ext cx="2010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51" name="Shape 40"/>
          <p:cNvSpPr/>
          <p:nvPr/>
        </p:nvSpPr>
        <p:spPr>
          <a:xfrm>
            <a:off x="10080071" y="4215384"/>
            <a:ext cx="658368" cy="65836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5519" y="4370832"/>
            <a:ext cx="347472" cy="347472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9495495" y="5001768"/>
            <a:ext cx="182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400" dirty="0"/>
          </a:p>
        </p:txBody>
      </p:sp>
      <p:sp>
        <p:nvSpPr>
          <p:cNvPr id="54" name="Text 42"/>
          <p:cNvSpPr/>
          <p:nvPr/>
        </p:nvSpPr>
        <p:spPr>
          <a:xfrm>
            <a:off x="9495495" y="5312664"/>
            <a:ext cx="182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push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DEL PROCESO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primer contacto al pago y la cobranza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35330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65098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8834" y="2953512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058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6770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aprobación</a:t>
            </a:r>
            <a:endParaRPr lang="en-US" sz="13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620" y="348386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53462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83230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966" y="2953512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63190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644902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Otorgamiento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crédito</a:t>
            </a:r>
            <a:endParaRPr lang="en-US" sz="13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1752" y="3483864"/>
            <a:ext cx="256032" cy="25603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1594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01362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5098" y="2953512"/>
            <a:ext cx="420624" cy="4206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481322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463034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al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concesionario</a:t>
            </a:r>
            <a:endParaRPr lang="en-US" sz="13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9884" y="3483864"/>
            <a:ext cx="256032" cy="256032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189726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012D70"/>
          </a:solidFill>
          <a:ln w="12700">
            <a:solidFill>
              <a:srgbClr val="012D7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19494" y="2779776"/>
            <a:ext cx="768096" cy="768096"/>
          </a:xfrm>
          <a:prstGeom prst="ellipse">
            <a:avLst/>
          </a:prstGeom>
          <a:solidFill>
            <a:srgbClr val="13386E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230" y="2953512"/>
            <a:ext cx="420624" cy="42062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99454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A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6281166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cartola</a:t>
            </a:r>
            <a:endParaRPr lang="en-US" sz="13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8016" y="3483864"/>
            <a:ext cx="256032" cy="25603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007858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437626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11362" y="2953512"/>
            <a:ext cx="420624" cy="42062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7586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22"/>
          <p:cNvSpPr/>
          <p:nvPr/>
        </p:nvSpPr>
        <p:spPr>
          <a:xfrm>
            <a:off x="8099298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</a:t>
            </a:r>
            <a:endParaRPr lang="en-US" sz="135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6148" y="3483864"/>
            <a:ext cx="256032" cy="256032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825990" y="2468880"/>
            <a:ext cx="1627632" cy="22860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255758" y="2779776"/>
            <a:ext cx="768096" cy="768096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494" y="2953512"/>
            <a:ext cx="420624" cy="42062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35718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26"/>
          <p:cNvSpPr/>
          <p:nvPr/>
        </p:nvSpPr>
        <p:spPr>
          <a:xfrm>
            <a:off x="9917430" y="379476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</a:t>
            </a:r>
            <a:endParaRPr lang="en-US" sz="13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</a:t>
            </a:r>
            <a:endParaRPr lang="en-US" sz="1350" dirty="0"/>
          </a:p>
        </p:txBody>
      </p:sp>
      <p:sp>
        <p:nvSpPr>
          <p:cNvPr id="40" name="Text 27"/>
          <p:cNvSpPr/>
          <p:nvPr/>
        </p:nvSpPr>
        <p:spPr>
          <a:xfrm>
            <a:off x="777240" y="5257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ciclo en una sola herramienta — cada etapa registra quién la ejecutó y cuándo.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crédito al pago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92224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de créditos, cartas de aprobación con doble validación (“cuatro ojos”) e historial.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907792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540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71216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masiva por Excel y cálculo automático de tramo MAYOR/MENOR 200 UF y TMC vigente.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986784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13308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95020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Venta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al concesionario por workflow con etapas y atribuciones por perfil — totalmente trazable.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5065776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2120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02920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e impuestos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Cartolas acumulativas, Boleta vs. Factura, IVA y Retención calculados y órdenes de pago agrupadas.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CLAVE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Control, soporte y visibilidad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92224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Tesorería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transitorias, cajas, cierre de caja y brokerage.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2907792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540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871216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Interés por mora y gasto de cobranza según normativa (Ley 19.496), por tramos en UF.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77240" y="3986784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13308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95020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y gestiones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gestiones y seguimiento comercial centralizado.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77240" y="5065776"/>
            <a:ext cx="566928" cy="566928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521208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502920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y Dashboard 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Reportería “Tailor Made”, exportación a Excel y desempeño de analistas.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2377440"/>
            <a:ext cx="6035040" cy="603504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49808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MAYOR VENTAJA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71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26187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Paramétrico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68680" y="22402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cambio legal o funcional, la empresa reacciona al instante: el propio Administrador lo configura desde un mantenedor — sin programadores, sin proveedores externos, sin esperas.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291840"/>
            <a:ext cx="3419856" cy="137160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291840"/>
            <a:ext cx="109728" cy="13716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438144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Minutos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1197864" y="41330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reacción, no semanas de espera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62856" y="3291840"/>
            <a:ext cx="3419856" cy="137160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62856" y="3291840"/>
            <a:ext cx="109728" cy="13716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Text 12"/>
          <p:cNvSpPr/>
          <p:nvPr/>
        </p:nvSpPr>
        <p:spPr>
          <a:xfrm>
            <a:off x="4882896" y="3438144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$ 0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4892040" y="41330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externo por cada ajuste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257032" y="3291840"/>
            <a:ext cx="3419856" cy="137160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57032" y="3291840"/>
            <a:ext cx="109728" cy="137160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8577072" y="3438144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300" dirty="0"/>
          </a:p>
        </p:txBody>
      </p:sp>
      <p:sp>
        <p:nvSpPr>
          <p:cNvPr id="20" name="Text 17"/>
          <p:cNvSpPr/>
          <p:nvPr/>
        </p:nvSpPr>
        <p:spPr>
          <a:xfrm>
            <a:off x="8586216" y="4133088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autonomía: lo decide el negocio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68680" y="49377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ajustan desde un mantenedor y rigen de inmediato: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68680" y="5321808"/>
            <a:ext cx="2964485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5321808"/>
            <a:ext cx="29644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Retención de Honorarios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034333" y="5321808"/>
            <a:ext cx="1530706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34333" y="5321808"/>
            <a:ext cx="15307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de IVA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766206" y="5321808"/>
            <a:ext cx="2426818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6206" y="5321808"/>
            <a:ext cx="2426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tramo de cobranza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394192" y="5321808"/>
            <a:ext cx="1709928" cy="457200"/>
          </a:xfrm>
          <a:prstGeom prst="roundRect">
            <a:avLst>
              <a:gd name="adj" fmla="val 50000"/>
            </a:avLst>
          </a:prstGeom>
          <a:solidFill>
            <a:srgbClr val="13386E"/>
          </a:solidFill>
          <a:ln w="12700">
            <a:solidFill>
              <a:srgbClr val="009A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94192" y="5321808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tasa / UF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CONFIANZA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Seguridad, trazabilidad y gobierno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17550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0574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128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277063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perfil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51560" y="3118104"/>
            <a:ext cx="46268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sensible (emitir, pagar, reversar, cargar) se habilita por perfil desde la matriz de Perfiles y Permisos.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08776" y="1783080"/>
            <a:ext cx="517550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83096" y="2057400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128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83096" y="2770632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por etapa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83096" y="3118104"/>
            <a:ext cx="46268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paso registra autor y fecha. El orden del proceso se respeta; lo configurable son los valores.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" y="4279392"/>
            <a:ext cx="517550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51560" y="4553712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0916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51560" y="526694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seguro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51560" y="5614416"/>
            <a:ext cx="46268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de autenticación (JWT), cambio de contraseña propio y auditoría de permisos.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08776" y="4279392"/>
            <a:ext cx="5175504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83096" y="4553712"/>
            <a:ext cx="640080" cy="640080"/>
          </a:xfrm>
          <a:prstGeom prst="ellipse">
            <a:avLst/>
          </a:prstGeom>
          <a:solidFill>
            <a:srgbClr val="EAF1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70916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83096" y="5266944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asistida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83096" y="5614416"/>
            <a:ext cx="46268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por evento, ayuda contextual y base de conocimiento editable por el negocio.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46304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5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planillas y terceros a una plataforma propia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175504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Excel y proveedores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517550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73405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64261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dispersos en múltiples planillas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39242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30098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manuales y cifras descuadradas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05079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95935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quién aprobó o pagó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70916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46177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cambio depende de un proveedor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367528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527608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US$ 78.000 al año por un repositorio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254496" y="1783080"/>
            <a:ext cx="5175504" cy="640080"/>
          </a:xfrm>
          <a:prstGeom prst="rect">
            <a:avLst/>
          </a:prstGeom>
          <a:solidFill>
            <a:srgbClr val="012D70"/>
          </a:solidFill>
          <a:ln/>
        </p:spPr>
      </p:sp>
      <p:sp>
        <p:nvSpPr>
          <p:cNvPr id="19" name="Text 12"/>
          <p:cNvSpPr/>
          <p:nvPr/>
        </p:nvSpPr>
        <p:spPr>
          <a:xfrm>
            <a:off x="6254496" y="1783080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BUSINESS SUITE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254496" y="2423160"/>
            <a:ext cx="5175504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9DBF5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273405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0296" y="2642616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única, en la nube, compartida</a:t>
            </a:r>
            <a:endParaRPr lang="en-US" sz="12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7104" y="3392424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940296" y="3300984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automático y parametrizado</a:t>
            </a:r>
            <a:endParaRPr lang="en-US" sz="12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4" y="4050792"/>
            <a:ext cx="237744" cy="23774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940296" y="3959352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por etapa, autor y fecha</a:t>
            </a:r>
            <a:endParaRPr lang="en-US" sz="12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470916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40296" y="4617720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configura — sin terceros</a:t>
            </a:r>
            <a:endParaRPr lang="en-US" sz="12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7104" y="5367528"/>
            <a:ext cx="237744" cy="23774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940296" y="5276088"/>
            <a:ext cx="4261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propia: el ahorro queda en casa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2D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3291840"/>
            <a:ext cx="5852160" cy="5852160"/>
          </a:xfrm>
          <a:prstGeom prst="ellipse">
            <a:avLst/>
          </a:prstGeom>
          <a:solidFill>
            <a:srgbClr val="0141A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35661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8AA0C0">
                <a:alpha val="22000"/>
              </a:srgbClr>
            </a:outerShdw>
          </a:effectLst>
        </p:spPr>
      </p:sp>
      <p:pic>
        <p:nvPicPr>
          <p:cNvPr id="5" name="Image 0" descr="api-gateway/public/img/logo-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5927" y="896112"/>
            <a:ext cx="2020227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un gasto fijo a un activo propio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822960" y="3200400"/>
            <a:ext cx="5175504" cy="182880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93008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83080" y="3511296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ahorro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43000" y="411480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Recuperamos US$ 78.000 al año del BPO actual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Evitamos US$ 200.000 + arriendo de un proveedor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 por cada mejora o cambio futuro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0216" y="3200400"/>
            <a:ext cx="5175504" cy="1828800"/>
          </a:xfrm>
          <a:prstGeom prst="rect">
            <a:avLst/>
          </a:prstGeom>
          <a:solidFill>
            <a:srgbClr val="0B2A63"/>
          </a:solidFill>
          <a:ln w="12700">
            <a:solidFill>
              <a:srgbClr val="1E4A9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3493008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60336" y="3511296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para escalar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620256" y="411480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propia, en la nube, sin instalación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 a nuestros datos, mejorable al instante</a:t>
            </a:r>
            <a:endParaRPr lang="en-US" sz="125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 nuevas áreas sin rehacer lo existente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2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costo  ·  más control  ·  autonomía total  ·  una base para crecer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AutoFácil Business Suite</dc:title>
  <dc:subject>PptxGenJS Presentation</dc:subject>
  <dc:creator>AutoFácil</dc:creator>
  <cp:lastModifiedBy>AutoFácil</cp:lastModifiedBy>
  <cp:revision>1</cp:revision>
  <dcterms:created xsi:type="dcterms:W3CDTF">2026-06-14T20:45:50Z</dcterms:created>
  <dcterms:modified xsi:type="dcterms:W3CDTF">2026-06-14T20:45:50Z</dcterms:modified>
</cp:coreProperties>
</file>