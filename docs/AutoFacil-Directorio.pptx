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D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0141A2"/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3291840"/>
            <a:ext cx="4754880" cy="4754880"/>
          </a:xfrm>
          <a:prstGeom prst="ellipse">
            <a:avLst/>
          </a:prstGeom>
          <a:solidFill>
            <a:srgbClr val="0255C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430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207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AUTOFÁCIL · CRÉDITO AUTOMOTRIZ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057400"/>
            <a:ext cx="9692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repositorio de créditos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plataforma operativa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41248" y="411480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software que administra el negocio completo — y se adapta solo, sin programadores.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41248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a Directorio</a:t>
            </a:r>
            <a:pPr indent="0" marL="0">
              <a:buNone/>
            </a:pPr>
            <a:r>
              <a:rPr lang="en-US" sz="1400" dirty="0">
                <a:solidFill>
                  <a:srgbClr val="009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Junio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5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CAMBIO DE PARADIGMA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6035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2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es un archivo. Es la plataforma del negocio.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13716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no solo almacena créditos: administra la operación completa — desde la aprobación hasta la cobranza — con control, trazabilidad y autonomía total para el negocio.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331720"/>
            <a:ext cx="3456432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2624328"/>
            <a:ext cx="640080" cy="64008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779776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3355848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integral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51560" y="3703320"/>
            <a:ext cx="29077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 planillas Excel dispersas y procesos manuales por un flujo único, en la nube, compartido y auditable.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489704" y="2331720"/>
            <a:ext cx="3456432" cy="3383280"/>
          </a:xfrm>
          <a:prstGeom prst="rect">
            <a:avLst/>
          </a:prstGeom>
          <a:solidFill>
            <a:srgbClr val="FFFDF6"/>
          </a:solidFill>
          <a:ln w="12700">
            <a:solidFill>
              <a:srgbClr val="F3D88A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64024" y="2624328"/>
            <a:ext cx="640080" cy="640080"/>
          </a:xfrm>
          <a:prstGeom prst="ellipse">
            <a:avLst/>
          </a:prstGeom>
          <a:solidFill>
            <a:srgbClr val="FFF3D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2779776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64024" y="3355848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Paramétrico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764024" y="3703320"/>
            <a:ext cx="29077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Administrador configura montos, tasas, impuestos, estados, textos y permisos — sin depender de un programador.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202168" y="2331720"/>
            <a:ext cx="3456432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76488" y="2624328"/>
            <a:ext cx="640080" cy="64008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2779776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76488" y="3355848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Diseñada para crecer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476488" y="3703320"/>
            <a:ext cx="29077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proceso nuevo se suma como módulo. La arquitectura soporta más volumen y más áreas sin rehacer lo existente.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5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CAPACIDADES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6035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2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sola plataforma, todo el negocio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201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53256" y="2112264"/>
            <a:ext cx="658368" cy="65836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8704" y="226771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2898648"/>
            <a:ext cx="182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3209544"/>
            <a:ext cx="182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en tiempo real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933944" y="1874520"/>
            <a:ext cx="201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09960" y="2112264"/>
            <a:ext cx="658368" cy="65836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408" y="2267712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25384" y="2898648"/>
            <a:ext cx="182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025384" y="3209544"/>
            <a:ext cx="182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Cartas y “cuatro ojos”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090648" y="1874520"/>
            <a:ext cx="201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766664" y="2112264"/>
            <a:ext cx="658368" cy="65836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2112" y="2267712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82088" y="2898648"/>
            <a:ext cx="182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182088" y="3209544"/>
            <a:ext cx="182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masiva y gestión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7247352" y="1874520"/>
            <a:ext cx="201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923367" y="2112264"/>
            <a:ext cx="658368" cy="65836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8815" y="2267712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38792" y="2898648"/>
            <a:ext cx="182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338792" y="3209544"/>
            <a:ext cx="182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integral 360°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9404055" y="1874520"/>
            <a:ext cx="201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0080071" y="2112264"/>
            <a:ext cx="658368" cy="65836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5519" y="2267712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495495" y="2898648"/>
            <a:ext cx="182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Comisiones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9495495" y="3209544"/>
            <a:ext cx="182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y cartolas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777240" y="3977640"/>
            <a:ext cx="201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1453256" y="4215384"/>
            <a:ext cx="658368" cy="65836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8704" y="4370832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68680" y="5001768"/>
            <a:ext cx="182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Venta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868680" y="5312664"/>
            <a:ext cx="182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por workflow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2933944" y="3977640"/>
            <a:ext cx="201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3609960" y="4215384"/>
            <a:ext cx="658368" cy="65836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65408" y="4370832"/>
            <a:ext cx="347472" cy="34747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3025384" y="5001768"/>
            <a:ext cx="182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Tesorería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3025384" y="5312664"/>
            <a:ext cx="182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y cajas</a:t>
            </a:r>
            <a:endParaRPr lang="en-US" sz="1050" dirty="0"/>
          </a:p>
        </p:txBody>
      </p:sp>
      <p:sp>
        <p:nvSpPr>
          <p:cNvPr id="40" name="Shape 31"/>
          <p:cNvSpPr/>
          <p:nvPr/>
        </p:nvSpPr>
        <p:spPr>
          <a:xfrm>
            <a:off x="5090648" y="3977640"/>
            <a:ext cx="201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5766664" y="4215384"/>
            <a:ext cx="658368" cy="65836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22112" y="4370832"/>
            <a:ext cx="347472" cy="347472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5182088" y="5001768"/>
            <a:ext cx="182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Cobranza</a:t>
            </a:r>
            <a:endParaRPr lang="en-US" sz="1400" dirty="0"/>
          </a:p>
        </p:txBody>
      </p:sp>
      <p:sp>
        <p:nvSpPr>
          <p:cNvPr id="44" name="Text 34"/>
          <p:cNvSpPr/>
          <p:nvPr/>
        </p:nvSpPr>
        <p:spPr>
          <a:xfrm>
            <a:off x="5182088" y="5312664"/>
            <a:ext cx="182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 y gastos (normativa)</a:t>
            </a:r>
            <a:endParaRPr lang="en-US" sz="1050" dirty="0"/>
          </a:p>
        </p:txBody>
      </p:sp>
      <p:sp>
        <p:nvSpPr>
          <p:cNvPr id="45" name="Shape 35"/>
          <p:cNvSpPr/>
          <p:nvPr/>
        </p:nvSpPr>
        <p:spPr>
          <a:xfrm>
            <a:off x="7247352" y="3977640"/>
            <a:ext cx="201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46" name="Shape 36"/>
          <p:cNvSpPr/>
          <p:nvPr/>
        </p:nvSpPr>
        <p:spPr>
          <a:xfrm>
            <a:off x="7923367" y="4215384"/>
            <a:ext cx="658368" cy="65836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78815" y="4370832"/>
            <a:ext cx="347472" cy="347472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7338792" y="5001768"/>
            <a:ext cx="182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Reportería</a:t>
            </a:r>
            <a:endParaRPr lang="en-US" sz="1400" dirty="0"/>
          </a:p>
        </p:txBody>
      </p:sp>
      <p:sp>
        <p:nvSpPr>
          <p:cNvPr id="49" name="Text 38"/>
          <p:cNvSpPr/>
          <p:nvPr/>
        </p:nvSpPr>
        <p:spPr>
          <a:xfrm>
            <a:off x="7338792" y="5312664"/>
            <a:ext cx="182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Informes a gerencia</a:t>
            </a:r>
            <a:endParaRPr lang="en-US" sz="1050" dirty="0"/>
          </a:p>
        </p:txBody>
      </p:sp>
      <p:sp>
        <p:nvSpPr>
          <p:cNvPr id="50" name="Shape 39"/>
          <p:cNvSpPr/>
          <p:nvPr/>
        </p:nvSpPr>
        <p:spPr>
          <a:xfrm>
            <a:off x="9404055" y="3977640"/>
            <a:ext cx="201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51" name="Shape 40"/>
          <p:cNvSpPr/>
          <p:nvPr/>
        </p:nvSpPr>
        <p:spPr>
          <a:xfrm>
            <a:off x="10080071" y="4215384"/>
            <a:ext cx="658368" cy="65836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5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35519" y="4370832"/>
            <a:ext cx="347472" cy="347472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9495495" y="5001768"/>
            <a:ext cx="182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1400" dirty="0"/>
          </a:p>
        </p:txBody>
      </p:sp>
      <p:sp>
        <p:nvSpPr>
          <p:cNvPr id="54" name="Text 42"/>
          <p:cNvSpPr/>
          <p:nvPr/>
        </p:nvSpPr>
        <p:spPr>
          <a:xfrm>
            <a:off x="9495495" y="5312664"/>
            <a:ext cx="182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y push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5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DEL PROCESO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6035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2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 primer contacto al pago y la cobranza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5330" y="2468880"/>
            <a:ext cx="1627632" cy="228600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65098" y="2779776"/>
            <a:ext cx="768096" cy="768096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8834" y="2953512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5058" y="2578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6770" y="379476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Cotización</a:t>
            </a:r>
            <a:endParaRPr lang="en-US" sz="13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aprobación</a:t>
            </a:r>
            <a:endParaRPr lang="en-US" sz="13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3620" y="3483864"/>
            <a:ext cx="256032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53462" y="2468880"/>
            <a:ext cx="1627632" cy="228600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983230" y="2779776"/>
            <a:ext cx="768096" cy="768096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6966" y="2953512"/>
            <a:ext cx="420624" cy="4206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663190" y="2578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2644902" y="379476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Otorgamiento</a:t>
            </a:r>
            <a:endParaRPr lang="en-US" sz="13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crédito</a:t>
            </a:r>
            <a:endParaRPr lang="en-US" sz="13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1752" y="3483864"/>
            <a:ext cx="256032" cy="25603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371594" y="2468880"/>
            <a:ext cx="1627632" cy="228600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801362" y="2779776"/>
            <a:ext cx="768096" cy="768096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5098" y="2953512"/>
            <a:ext cx="420624" cy="42062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481322" y="2578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4463034" y="379476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al</a:t>
            </a:r>
            <a:endParaRPr lang="en-US" sz="13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concesionario</a:t>
            </a:r>
            <a:endParaRPr lang="en-US" sz="13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9884" y="3483864"/>
            <a:ext cx="256032" cy="256032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189726" y="2468880"/>
            <a:ext cx="1627632" cy="2286000"/>
          </a:xfrm>
          <a:prstGeom prst="roundRect">
            <a:avLst>
              <a:gd name="adj" fmla="val 6742"/>
            </a:avLst>
          </a:prstGeom>
          <a:solidFill>
            <a:srgbClr val="012D70"/>
          </a:solidFill>
          <a:ln w="12700">
            <a:solidFill>
              <a:srgbClr val="012D7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6619494" y="2779776"/>
            <a:ext cx="768096" cy="768096"/>
          </a:xfrm>
          <a:prstGeom prst="ellipse">
            <a:avLst/>
          </a:prstGeom>
          <a:solidFill>
            <a:srgbClr val="13386E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3230" y="2953512"/>
            <a:ext cx="420624" cy="420624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299454" y="2578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A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18"/>
          <p:cNvSpPr/>
          <p:nvPr/>
        </p:nvSpPr>
        <p:spPr>
          <a:xfrm>
            <a:off x="6281166" y="379476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Comisión</a:t>
            </a:r>
            <a:endParaRPr lang="en-US" sz="13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cartola</a:t>
            </a:r>
            <a:endParaRPr lang="en-US" sz="135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8016" y="3483864"/>
            <a:ext cx="256032" cy="256032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8007858" y="2468880"/>
            <a:ext cx="1627632" cy="228600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8437626" y="2779776"/>
            <a:ext cx="768096" cy="768096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11362" y="2953512"/>
            <a:ext cx="420624" cy="420624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8117586" y="2578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22"/>
          <p:cNvSpPr/>
          <p:nvPr/>
        </p:nvSpPr>
        <p:spPr>
          <a:xfrm>
            <a:off x="8099298" y="379476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Cobranza</a:t>
            </a:r>
            <a:endParaRPr lang="en-US" sz="135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66148" y="3483864"/>
            <a:ext cx="256032" cy="256032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9825990" y="2468880"/>
            <a:ext cx="1627632" cy="228600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36" name="Shape 24"/>
          <p:cNvSpPr/>
          <p:nvPr/>
        </p:nvSpPr>
        <p:spPr>
          <a:xfrm>
            <a:off x="10255758" y="2779776"/>
            <a:ext cx="768096" cy="768096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29494" y="2953512"/>
            <a:ext cx="420624" cy="420624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9935718" y="2578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39" name="Text 26"/>
          <p:cNvSpPr/>
          <p:nvPr/>
        </p:nvSpPr>
        <p:spPr>
          <a:xfrm>
            <a:off x="9917430" y="379476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Reportería</a:t>
            </a:r>
            <a:endParaRPr lang="en-US" sz="13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gerencial</a:t>
            </a:r>
            <a:endParaRPr lang="en-US" sz="1350" dirty="0"/>
          </a:p>
        </p:txBody>
      </p:sp>
      <p:sp>
        <p:nvSpPr>
          <p:cNvPr id="40" name="Text 27"/>
          <p:cNvSpPr/>
          <p:nvPr/>
        </p:nvSpPr>
        <p:spPr>
          <a:xfrm>
            <a:off x="777240" y="52578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ciclo en una sola herramienta — cada etapa registra quién la ejecutó y cuándo.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5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CLAVE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6035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2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 crédito al pago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566928" cy="56692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97510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92224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Originación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de créditos, cartas de aprobación con doble validación (“cuatro ojos”) e historial.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77240" y="2907792"/>
            <a:ext cx="566928" cy="56692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3054096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871216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masiva por Excel, paginación, y cálculo automático de tramo MAYOR/MENOR 200 UF y TMC vigente.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777240" y="3986784"/>
            <a:ext cx="566928" cy="56692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413308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3950208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Venta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al concesionario por workflow con etapas y atribuciones por perfil — totalmente trazable.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77240" y="5065776"/>
            <a:ext cx="566928" cy="56692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5212080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08760" y="5029200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Comisiones e impuestos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Cartolas acumulativas, Boleta vs. Factura, IVA y Retención calculados y órdenes de pago agrupadas.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5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CLAVE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6035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2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Control, soporte y visibilidad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566928" cy="56692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97510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92224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Tesorería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transitorias, cajas, cierre de caja y brokerage.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77240" y="2907792"/>
            <a:ext cx="566928" cy="56692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3054096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871216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Cobranza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Interés por mora y gasto de cobranza calculados según normativa (Ley 19.496), por tramos en UF.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777240" y="3986784"/>
            <a:ext cx="566928" cy="56692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413308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3950208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y gestiones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gestiones y seguimiento comercial centralizado.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77240" y="5065776"/>
            <a:ext cx="566928" cy="56692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5212080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08760" y="5029200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Reportería y Dashboard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Reportería “Tailor Made” para gerencia, exportación a Excel y desempeño de analistas.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2D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2377440"/>
            <a:ext cx="6035040" cy="6035040"/>
          </a:xfrm>
          <a:prstGeom prst="ellipse">
            <a:avLst/>
          </a:prstGeom>
          <a:solidFill>
            <a:srgbClr val="0141A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146304" cy="5669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74980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MAYOR VENTAJA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298448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 Paramétrico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868680" y="23317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 un cambio legal o funcional, la empresa reacciona al instante: el propio Administrador lo configura desde un mantenedor — sin programadores, sin proveedores externos, sin esperas.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68680" y="3383280"/>
            <a:ext cx="3419856" cy="1417320"/>
          </a:xfrm>
          <a:prstGeom prst="rect">
            <a:avLst/>
          </a:prstGeom>
          <a:solidFill>
            <a:srgbClr val="0B2A63"/>
          </a:solidFill>
          <a:ln w="12700">
            <a:solidFill>
              <a:srgbClr val="1E4A9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3383280"/>
            <a:ext cx="109728" cy="14173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1" name="Text 8"/>
          <p:cNvSpPr/>
          <p:nvPr/>
        </p:nvSpPr>
        <p:spPr>
          <a:xfrm>
            <a:off x="1188720" y="3547872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Minutos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1197864" y="4251960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reacción, no semanas de espera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62856" y="3383280"/>
            <a:ext cx="3419856" cy="1417320"/>
          </a:xfrm>
          <a:prstGeom prst="rect">
            <a:avLst/>
          </a:prstGeom>
          <a:solidFill>
            <a:srgbClr val="0B2A63"/>
          </a:solidFill>
          <a:ln w="12700">
            <a:solidFill>
              <a:srgbClr val="1E4A9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62856" y="3383280"/>
            <a:ext cx="109728" cy="14173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5" name="Text 12"/>
          <p:cNvSpPr/>
          <p:nvPr/>
        </p:nvSpPr>
        <p:spPr>
          <a:xfrm>
            <a:off x="4882896" y="3547872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$ 0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4892040" y="4251960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desarrollo externo por cada ajuste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257032" y="3383280"/>
            <a:ext cx="3419856" cy="1417320"/>
          </a:xfrm>
          <a:prstGeom prst="rect">
            <a:avLst/>
          </a:prstGeom>
          <a:solidFill>
            <a:srgbClr val="0B2A63"/>
          </a:solidFill>
          <a:ln w="12700">
            <a:solidFill>
              <a:srgbClr val="1E4A9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57032" y="3383280"/>
            <a:ext cx="109728" cy="14173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9" name="Text 16"/>
          <p:cNvSpPr/>
          <p:nvPr/>
        </p:nvSpPr>
        <p:spPr>
          <a:xfrm>
            <a:off x="8577072" y="3547872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400" dirty="0"/>
          </a:p>
        </p:txBody>
      </p:sp>
      <p:sp>
        <p:nvSpPr>
          <p:cNvPr id="20" name="Text 17"/>
          <p:cNvSpPr/>
          <p:nvPr/>
        </p:nvSpPr>
        <p:spPr>
          <a:xfrm>
            <a:off x="8586216" y="4251960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autonomía: lo decide el negocio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68680" y="5074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ajustan desde un mantenedor y rigen de inmediato: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868680" y="5440680"/>
            <a:ext cx="2964485" cy="457200"/>
          </a:xfrm>
          <a:prstGeom prst="roundRect">
            <a:avLst>
              <a:gd name="adj" fmla="val 50000"/>
            </a:avLst>
          </a:prstGeom>
          <a:solidFill>
            <a:srgbClr val="13386E"/>
          </a:solidFill>
          <a:ln w="12700">
            <a:solidFill>
              <a:srgbClr val="009AF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68680" y="5440680"/>
            <a:ext cx="29644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Retención de Honorarios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034333" y="5440680"/>
            <a:ext cx="1530706" cy="457200"/>
          </a:xfrm>
          <a:prstGeom prst="roundRect">
            <a:avLst>
              <a:gd name="adj" fmla="val 50000"/>
            </a:avLst>
          </a:prstGeom>
          <a:solidFill>
            <a:srgbClr val="13386E"/>
          </a:solidFill>
          <a:ln w="12700">
            <a:solidFill>
              <a:srgbClr val="009AF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034333" y="5440680"/>
            <a:ext cx="15307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de IVA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766206" y="5440680"/>
            <a:ext cx="2426818" cy="457200"/>
          </a:xfrm>
          <a:prstGeom prst="roundRect">
            <a:avLst>
              <a:gd name="adj" fmla="val 50000"/>
            </a:avLst>
          </a:prstGeom>
          <a:solidFill>
            <a:srgbClr val="13386E"/>
          </a:solidFill>
          <a:ln w="12700">
            <a:solidFill>
              <a:srgbClr val="009AF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766206" y="5440680"/>
            <a:ext cx="2426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tramo de cobranza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8394192" y="5440680"/>
            <a:ext cx="1709928" cy="457200"/>
          </a:xfrm>
          <a:prstGeom prst="roundRect">
            <a:avLst>
              <a:gd name="adj" fmla="val 50000"/>
            </a:avLst>
          </a:prstGeom>
          <a:solidFill>
            <a:srgbClr val="13386E"/>
          </a:solidFill>
          <a:ln w="12700">
            <a:solidFill>
              <a:srgbClr val="009AF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394192" y="5440680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tasa / UF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5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Y CONFIANZA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6035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2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Seguridad, trazabilidad y gobierno del proceso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5175504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121408"/>
            <a:ext cx="640080" cy="64008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2768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2852928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por perfil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51560" y="3200400"/>
            <a:ext cx="4626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Perfiles y Permisos: cada acción sensible (emitir, pagar, reversar, cargar) se habilita por perfil desde una pantalla.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08776" y="1828800"/>
            <a:ext cx="5175504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83096" y="2121408"/>
            <a:ext cx="640080" cy="64008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2276856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83096" y="2852928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por etapa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483096" y="3200400"/>
            <a:ext cx="4626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paso del flujo registra autor y fecha. El orden del proceso se respeta; lo configurable son los valores, no la estructura.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77240" y="4142232"/>
            <a:ext cx="5175504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051560" y="4434840"/>
            <a:ext cx="640080" cy="64008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459028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1560" y="5166360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seguro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051560" y="5513832"/>
            <a:ext cx="4626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con token (JWT), cambio de contraseña propio y auditoría de integridad de permisos.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08776" y="4142232"/>
            <a:ext cx="5175504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83096" y="4434840"/>
            <a:ext cx="640080" cy="64008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544" y="459028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83096" y="5166360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asistida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6483096" y="5513832"/>
            <a:ext cx="4626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y alertas por evento, ayuda contextual y base de conocimiento editable por el negocio.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5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SALTO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6035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2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planillas y procesos manuales a una plataforma de control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5175504" cy="6400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5175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— Excel y manual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2423160"/>
            <a:ext cx="5175504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734056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642616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dispersos en múltiples planillas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3392424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3300984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Cálculos manuales (comisión, mora, impuestos)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405079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3959352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trazabilidad de quién aprobó o pagó</a:t>
            </a:r>
            <a:endParaRPr lang="en-US" sz="12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4709160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63040" y="4617720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cambio depende de un proveedor externo</a:t>
            </a:r>
            <a:endParaRPr lang="en-US" sz="12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" y="5367528"/>
            <a:ext cx="237744" cy="23774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463040" y="5276088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operacional y de control</a:t>
            </a:r>
            <a:endParaRPr lang="en-US" sz="1250" dirty="0"/>
          </a:p>
        </p:txBody>
      </p:sp>
      <p:sp>
        <p:nvSpPr>
          <p:cNvPr id="18" name="Shape 11"/>
          <p:cNvSpPr/>
          <p:nvPr/>
        </p:nvSpPr>
        <p:spPr>
          <a:xfrm>
            <a:off x="6254496" y="1783080"/>
            <a:ext cx="5175504" cy="640080"/>
          </a:xfrm>
          <a:prstGeom prst="rect">
            <a:avLst/>
          </a:prstGeom>
          <a:solidFill>
            <a:srgbClr val="012D70"/>
          </a:solidFill>
          <a:ln/>
        </p:spPr>
      </p:sp>
      <p:sp>
        <p:nvSpPr>
          <p:cNvPr id="19" name="Text 12"/>
          <p:cNvSpPr/>
          <p:nvPr/>
        </p:nvSpPr>
        <p:spPr>
          <a:xfrm>
            <a:off x="6254496" y="1783080"/>
            <a:ext cx="5175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PLATAFORMA</a:t>
            </a:r>
            <a:endParaRPr lang="en-US" sz="1500" dirty="0"/>
          </a:p>
        </p:txBody>
      </p:sp>
      <p:sp>
        <p:nvSpPr>
          <p:cNvPr id="20" name="Shape 13"/>
          <p:cNvSpPr/>
          <p:nvPr/>
        </p:nvSpPr>
        <p:spPr>
          <a:xfrm>
            <a:off x="6254496" y="2423160"/>
            <a:ext cx="5175504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BF5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7104" y="2734056"/>
            <a:ext cx="237744" cy="23774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940296" y="2642616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única, en la nube, compartida</a:t>
            </a:r>
            <a:endParaRPr lang="en-US" sz="125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7104" y="3392424"/>
            <a:ext cx="237744" cy="237744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940296" y="3300984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automático y parametrizado</a:t>
            </a:r>
            <a:endParaRPr lang="en-US" sz="125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7104" y="4050792"/>
            <a:ext cx="237744" cy="237744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940296" y="3959352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por etapa, autor y fecha</a:t>
            </a:r>
            <a:endParaRPr lang="en-US" sz="125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7104" y="4709160"/>
            <a:ext cx="237744" cy="237744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6940296" y="4617720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Administrador configura — sin terceros</a:t>
            </a:r>
            <a:endParaRPr lang="en-US" sz="125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47104" y="5367528"/>
            <a:ext cx="237744" cy="237744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6940296" y="5276088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por perfil y validaciones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2D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3291840"/>
            <a:ext cx="5852160" cy="5852160"/>
          </a:xfrm>
          <a:prstGeom prst="ellipse">
            <a:avLst/>
          </a:prstGeom>
          <a:solidFill>
            <a:srgbClr val="0141A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40080"/>
            <a:ext cx="146304" cy="5669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6126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BASE PARA ESCALAR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1430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Listo para crecer con el negocio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822960" y="2194560"/>
            <a:ext cx="5175504" cy="2743200"/>
          </a:xfrm>
          <a:prstGeom prst="rect">
            <a:avLst/>
          </a:prstGeom>
          <a:solidFill>
            <a:srgbClr val="0B2A63"/>
          </a:solidFill>
          <a:ln w="12700">
            <a:solidFill>
              <a:srgbClr val="1E4A9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48716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496312"/>
            <a:ext cx="4078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cloud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43000" y="3108960"/>
            <a:ext cx="46268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instalación: funciona desde cualquier navegador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administrada y despliegue automático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Soporta más volumen y nuevas áreas sin rehacer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300216" y="2194560"/>
            <a:ext cx="5175504" cy="2743200"/>
          </a:xfrm>
          <a:prstGeom prst="rect">
            <a:avLst/>
          </a:prstGeom>
          <a:solidFill>
            <a:srgbClr val="0B2A63"/>
          </a:solidFill>
          <a:ln w="12700">
            <a:solidFill>
              <a:srgbClr val="1E4A9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248716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14616" y="2496312"/>
            <a:ext cx="4078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620256" y="3108960"/>
            <a:ext cx="46268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Respaldos y alertas de producción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acciones críticas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factor (2FA) para administradores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Caché y CDN cuando el volumen lo justifique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2960" y="5349240"/>
            <a:ext cx="10515600" cy="86868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6" name="Text 12"/>
          <p:cNvSpPr/>
          <p:nvPr/>
        </p:nvSpPr>
        <p:spPr>
          <a:xfrm>
            <a:off x="822960" y="53492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12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Menos errores  ·  más control  ·  procesos más rápidos  ·  autonomía total del negocio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AutoFácil — Plataforma operativa</dc:title>
  <dc:subject>PptxGenJS Presentation</dc:subject>
  <dc:creator>AutoFácil</dc:creator>
  <cp:lastModifiedBy>AutoFácil</cp:lastModifiedBy>
  <cp:revision>1</cp:revision>
  <dcterms:created xsi:type="dcterms:W3CDTF">2026-06-14T20:19:31Z</dcterms:created>
  <dcterms:modified xsi:type="dcterms:W3CDTF">2026-06-14T20:19:31Z</dcterms:modified>
</cp:coreProperties>
</file>